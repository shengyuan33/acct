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67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920240" cy="34747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AcctAssist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系統核心功能升級規劃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打造企業級報帳體驗 — 退件機制、AI 智能分類與帳號綁定實作藍圖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926080"/>
            <a:ext cx="4114800" cy="0"/>
          </a:xfrm>
          <a:prstGeom prst="line">
            <a:avLst/>
          </a:prstGeom>
          <a:noFill/>
          <a:ln w="254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2560320" cy="402336"/>
          </a:xfrm>
          <a:prstGeom prst="rect">
            <a:avLst/>
          </a:prstGeom>
          <a:solidFill>
            <a:srgbClr val="243070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退件機制 &amp; 補件流程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3200400"/>
            <a:ext cx="2560320" cy="402336"/>
          </a:xfrm>
          <a:prstGeom prst="rect">
            <a:avLst/>
          </a:prstGeom>
          <a:solidFill>
            <a:srgbClr val="243070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00400" y="3200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AI 憑證自動分類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0" y="3200400"/>
            <a:ext cx="2560320" cy="402336"/>
          </a:xfrm>
          <a:prstGeom prst="rect">
            <a:avLst/>
          </a:prstGeom>
          <a:solidFill>
            <a:srgbClr val="243070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760720" y="3200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帳號對應機制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Q2  ·  AcctAssist Upgrade Initiative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專案升級目標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0"/>
          </a:xfrm>
          <a:prstGeom prst="line">
            <a:avLst/>
          </a:prstGeom>
          <a:noFill/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48056" y="1133856"/>
            <a:ext cx="8321040" cy="105156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8321040" cy="1051560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109728" cy="1051560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58368" y="1280160"/>
            <a:ext cx="658368" cy="658368"/>
          </a:xfrm>
          <a:prstGeom prst="rect">
            <a:avLst/>
          </a:prstGeom>
          <a:solidFill>
            <a:srgbClr val="4F6BDB">
              <a:alpha val="80000"/>
            </a:srgbClr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58368" y="1280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1207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優化使用者體驗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F6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188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實現「LINE 內閉環操作」與「零點擊分類」，降低員工報帳門檻，讓報帳從繁瑣變直覺。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" y="2368296"/>
            <a:ext cx="8321040" cy="105156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11480" y="2331720"/>
            <a:ext cx="8321040" cy="1051560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11480" y="2331720"/>
            <a:ext cx="109728" cy="10515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58368" y="2514600"/>
            <a:ext cx="658368" cy="658368"/>
          </a:xfrm>
          <a:prstGeom prst="rect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58368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2441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減輕財務負擔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24231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AI 自動辨識憑證，減少人工核對與分類時間，讓財務專注於高價值審核工作。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" y="3602736"/>
            <a:ext cx="8321040" cy="105156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11480" y="3566160"/>
            <a:ext cx="8321040" cy="1051560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11480" y="3566160"/>
            <a:ext cx="109728" cy="105156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58368" y="3749040"/>
            <a:ext cx="658368" cy="658368"/>
          </a:xfrm>
          <a:prstGeom prst="rect">
            <a:avLst/>
          </a:prstGeom>
          <a:solidFill>
            <a:srgbClr val="F1C40F">
              <a:alpha val="80000"/>
            </a:srgbClr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58368" y="3749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08760" y="3675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確保資料正確性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0876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49040" y="3657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建立實名制對應機制，確保每筆帳目的歸屬清晰可查，杜絕匿名或錯誤身分報帳。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議題一｜退回機制與補件流程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Experience via 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0"/>
          </a:xfrm>
          <a:prstGeom prst="line">
            <a:avLst/>
          </a:prstGeom>
          <a:noFill/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402336"/>
          </a:xfrm>
          <a:prstGeom prst="rect">
            <a:avLst/>
          </a:prstGeom>
          <a:solidFill>
            <a:srgbClr val="2D1B4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痛點：傳統 Email 通知容易漏信，跨平台補件流程繁瑣，員工體驗差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" y="1636776"/>
            <a:ext cx="260604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2606040" cy="1645920"/>
          </a:xfrm>
          <a:prstGeom prst="rect">
            <a:avLst/>
          </a:prstGeom>
          <a:solidFill>
            <a:srgbClr val="253480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76072" y="1755648"/>
            <a:ext cx="457200" cy="457200"/>
          </a:xfrm>
          <a:prstGeom prst="ellipse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7607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61288" y="1755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會計退件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於 Web 後台點擊「退回」並輸入原因（如：發票模糊、金額不符）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2423160"/>
            <a:ext cx="109728" cy="0"/>
          </a:xfrm>
          <a:prstGeom prst="line">
            <a:avLst/>
          </a:prstGeom>
          <a:noFill/>
          <a:ln w="3175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282696" y="1636776"/>
            <a:ext cx="260604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246120" y="1600200"/>
            <a:ext cx="2606040" cy="1645920"/>
          </a:xfrm>
          <a:prstGeom prst="rect">
            <a:avLst/>
          </a:prstGeom>
          <a:solidFill>
            <a:srgbClr val="253480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410712" y="1755648"/>
            <a:ext cx="457200" cy="457200"/>
          </a:xfrm>
          <a:prstGeom prst="ellipse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41071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95928" y="1755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系統推播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10712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LINE 發送精美「退件通知圖文卡片（Flex Message）」給員工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2423160"/>
            <a:ext cx="109728" cy="0"/>
          </a:xfrm>
          <a:prstGeom prst="line">
            <a:avLst/>
          </a:prstGeom>
          <a:noFill/>
          <a:ln w="3175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117336" y="1636776"/>
            <a:ext cx="2606040" cy="164592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080760" y="1600200"/>
            <a:ext cx="2606040" cy="1645920"/>
          </a:xfrm>
          <a:prstGeom prst="rect">
            <a:avLst/>
          </a:prstGeom>
          <a:solidFill>
            <a:srgbClr val="253480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245352" y="1755648"/>
            <a:ext cx="457200" cy="457200"/>
          </a:xfrm>
          <a:prstGeom prst="ellipse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24535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30568" y="1755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一鍵補件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45352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員工點擊卡片上「重新上傳」按鈕，直接在原對話框拍照補件，無縫接軌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3429000"/>
            <a:ext cx="8321040" cy="1417320"/>
          </a:xfrm>
          <a:prstGeom prst="rect">
            <a:avLst/>
          </a:prstGeom>
          <a:solidFill>
            <a:srgbClr val="0F1E5A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411480" y="3429000"/>
            <a:ext cx="109728" cy="1417320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58368" y="34930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技術亮點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" y="38587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狀態機（State Machine）設計：</a:t>
            </a:r>
            <a:r>
              <a:rPr lang="en-US" sz="12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精準將新上傳的憑證綁定回原退回單據，不產生重複帳目。補件完成後自動解除退件狀態並通知會計重新審核。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議題一（補充）｜LINE 主動推播成本分析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 Cost Strategy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0"/>
          </a:xfrm>
          <a:prstGeom prst="line">
            <a:avLst/>
          </a:prstGeom>
          <a:noFill/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402336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核心邏輯：員工傳訊後的「回覆 Reply」永遠免費；系統「主動通知 Push」需視額度計費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" y="1609344"/>
            <a:ext cx="2304288" cy="153619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304288" cy="1536192"/>
          </a:xfrm>
          <a:prstGeom prst="rect">
            <a:avLst/>
          </a:prstGeom>
          <a:solidFill>
            <a:srgbClr val="0F2A1E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48640" y="1709928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13816" y="1682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輕用量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665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元 / 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5054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免費推播 200 則/月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52928"/>
            <a:ext cx="1554480" cy="21945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48640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最推薦起步方案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25496" y="1609344"/>
            <a:ext cx="2304288" cy="153619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2788920" y="1572768"/>
            <a:ext cx="2304288" cy="1536192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2926080" y="1709928"/>
            <a:ext cx="201168" cy="20116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191256" y="1682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中用量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0665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元 / 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26080" y="25054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免費推播 3,000 則/月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02936" y="1609344"/>
            <a:ext cx="3447288" cy="153619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166360" y="1572768"/>
            <a:ext cx="3447288" cy="1536192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5303520" y="170992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568696" y="16824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高用量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20665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元 / 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2505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免費推播 6,000 則/月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" y="3346704"/>
            <a:ext cx="4114800" cy="153619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411480" y="3310128"/>
            <a:ext cx="4114800" cy="1536192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11480" y="3310128"/>
            <a:ext cx="109728" cy="15361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12648" y="34198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 A｜極致 UX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" y="380390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採用 0 元方案，每月 200 則退件通知對中小型企業已相當充足，且無任何預算壓力。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0016" y="3346704"/>
            <a:ext cx="4160520" cy="153619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4663440" y="3310128"/>
            <a:ext cx="4160520" cy="1536192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4663440" y="3310128"/>
            <a:ext cx="109728" cy="153619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4864608" y="341985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 B｜零成本備案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64608" y="3803904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退件量極大時，改用 LINE 圖文選單（Rich Menu）增加「查詢退件」按鈕，讓員工主動拉取資訊，實現永遠 0 元推播成本。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議題二｜AI 憑證自動分類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Zero-click Categorization via Gemini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0"/>
          </a:xfrm>
          <a:prstGeom prst="line">
            <a:avLst/>
          </a:prstGeom>
          <a:noFill/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402336"/>
          </a:xfrm>
          <a:prstGeom prst="rect">
            <a:avLst/>
          </a:prstGeom>
          <a:solidFill>
            <a:srgbClr val="2D1B4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痛點：要求員工手動選擇「發票、收據、車票」容易出錯且耗時，分類不一致影響財務統計精準度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" y="1627632"/>
            <a:ext cx="2651760" cy="150876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2651760" cy="1508760"/>
          </a:xfrm>
          <a:prstGeom prst="rect">
            <a:avLst/>
          </a:prstGeom>
          <a:solidFill>
            <a:srgbClr val="253480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76072" y="1737360"/>
            <a:ext cx="457200" cy="457200"/>
          </a:xfrm>
          <a:prstGeom prst="ellipse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7607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6128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員工傳照片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" y="23042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無需選擇類別，直接傳送圖片，降低操作門檻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82696" y="1627632"/>
            <a:ext cx="2651760" cy="150876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1591056"/>
            <a:ext cx="2651760" cy="1508760"/>
          </a:xfrm>
          <a:prstGeom prst="rect">
            <a:avLst/>
          </a:prstGeom>
          <a:solidFill>
            <a:srgbClr val="253480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410712" y="1737360"/>
            <a:ext cx="457200" cy="457200"/>
          </a:xfrm>
          <a:prstGeom prst="ellipse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41071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9592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判讀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10712" y="23042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結合客戶專屬規則庫進行 Few-Shot 自動辨識分類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17336" y="1627632"/>
            <a:ext cx="2651760" cy="150876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080760" y="1591056"/>
            <a:ext cx="2651760" cy="1508760"/>
          </a:xfrm>
          <a:prstGeom prst="rect">
            <a:avLst/>
          </a:prstGeom>
          <a:solidFill>
            <a:srgbClr val="253480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245352" y="1737360"/>
            <a:ext cx="457200" cy="457200"/>
          </a:xfrm>
          <a:prstGeom prst="ellipse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4535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056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系統自動歸類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45352" y="23042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無法辨識者歸為「其他」，自動標記需人工審核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27355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6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技術亮點 — Few-Shot Prompting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8056" y="3694176"/>
            <a:ext cx="4114800" cy="12344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411480" y="3657600"/>
            <a:ext cx="4114800" cy="1234440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411480" y="3657600"/>
            <a:ext cx="109728" cy="1234440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12648" y="3712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客製化規則注入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" y="405993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含「高鐵 / 台鐵」字樣 → 車票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含「折讓明細」字樣 → 退貨單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含稅號且有發票字號 → 統一發票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91456" y="3694176"/>
            <a:ext cx="4114800" cy="123444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4754880" y="3657600"/>
            <a:ext cx="4114800" cy="1234440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109728" cy="1234440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4956048" y="3712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結構化 JSON 輸出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56048" y="405993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強制 AI 輸出 JSON 格式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確保資料庫 100% 正確接收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辨識失敗時回傳 needs_review 旗標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議題三｜使用者帳號對應機制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Identity Binding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0"/>
          </a:xfrm>
          <a:prstGeom prst="line">
            <a:avLst/>
          </a:prstGeom>
          <a:noFill/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402336"/>
          </a:xfrm>
          <a:prstGeom prst="rect">
            <a:avLst/>
          </a:prstGeom>
          <a:solidFill>
            <a:srgbClr val="2D1B4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痛點：LINE 顯示名稱多為暱稱，財務無法辨識真實員工身分，帳目歸屬不明確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" y="1645920"/>
            <a:ext cx="5120640" cy="877824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5120640" cy="877824"/>
          </a:xfrm>
          <a:prstGeom prst="rect">
            <a:avLst/>
          </a:prstGeom>
          <a:solidFill>
            <a:srgbClr val="253480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48640" y="1810512"/>
            <a:ext cx="457200" cy="457200"/>
          </a:xfrm>
          <a:prstGeom prst="ellipse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486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16824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首次攔截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2029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新使用者首次觸發報帳時，系統攔截並回覆：「初次使用請先綁定身分」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" y="2633472"/>
            <a:ext cx="5120640" cy="877824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11480" y="2596896"/>
            <a:ext cx="5120640" cy="877824"/>
          </a:xfrm>
          <a:prstGeom prst="rect">
            <a:avLst/>
          </a:prstGeom>
          <a:solidFill>
            <a:srgbClr val="253480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798064"/>
            <a:ext cx="457200" cy="45720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26700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身分驗證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017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引導輸入【員工編號】或【真實姓名】進行一次性身分核實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" y="3621024"/>
            <a:ext cx="5120640" cy="877824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11480" y="3584448"/>
            <a:ext cx="5120640" cy="877824"/>
          </a:xfrm>
          <a:prstGeom prst="rect">
            <a:avLst/>
          </a:prstGeom>
          <a:solidFill>
            <a:srgbClr val="253480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3785616"/>
            <a:ext cx="457200" cy="4572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4864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3657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永久綁定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70432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後端建立 LINE ID ↔ 真實身分關聯，未來報帳皆自動帶入正確姓名與部門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51576" y="1645920"/>
            <a:ext cx="3017520" cy="3072384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5715000" y="1609344"/>
            <a:ext cx="3017520" cy="3072384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5715000" y="1609344"/>
            <a:ext cx="109728" cy="30723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961888" y="1737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技術亮點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61888" y="217627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254496" y="21396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後端 Middleware 身分攔截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61888" y="2596896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6254496" y="2560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未綁定者無法送出報帳資料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61888" y="301752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254496" y="29809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資料庫保持絕對乾淨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61888" y="343814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6254496" y="34015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綁定後自動同步部門資訊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61888" y="385876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6254496" y="38221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支援員工換部門重新綁定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4626864"/>
            <a:ext cx="8321040" cy="320040"/>
          </a:xfrm>
          <a:prstGeom prst="rect">
            <a:avLst/>
          </a:prstGeom>
          <a:solidFill>
            <a:srgbClr val="0F2A1E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548640" y="46268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綁定為一次性操作：員工僅需操作一次，後續所有報帳自動帶入真實身分，完全透明。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開發實作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建議實作順序與戰略理由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0"/>
          </a:xfrm>
          <a:prstGeom prst="line">
            <a:avLst/>
          </a:prstGeom>
          <a:noFill/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48056" y="1042416"/>
            <a:ext cx="2697480" cy="391363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697480" cy="3913632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269748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548640" y="1170432"/>
            <a:ext cx="914400" cy="274320"/>
          </a:xfrm>
          <a:prstGeom prst="rect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48640" y="1170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18488" y="1188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使用者帳號綁定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2423160" cy="749808"/>
          </a:xfrm>
          <a:prstGeom prst="rect">
            <a:avLst/>
          </a:prstGeom>
          <a:solidFill>
            <a:srgbClr val="1A2456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12648" y="204825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確保後續所有帳目都有正確「所有人」，這是整個資料庫乾淨的基礎前提。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7315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40664" y="28895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身分攔截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82112"/>
            <a:ext cx="7315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40664" y="31638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對話引導綁定流程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56432"/>
            <a:ext cx="7315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740664" y="3438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ID ↔ 員工資料關聯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30752"/>
            <a:ext cx="7315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40664" y="37124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部門自動帶入機制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28416" y="1042416"/>
            <a:ext cx="2697480" cy="391363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3291840" y="1005840"/>
            <a:ext cx="2697480" cy="3913632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291840" y="1005840"/>
            <a:ext cx="2697480" cy="91440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429000" y="1170432"/>
            <a:ext cx="914400" cy="274320"/>
          </a:xfrm>
          <a:prstGeom prst="rect">
            <a:avLst/>
          </a:prstGeom>
          <a:solidFill>
            <a:srgbClr val="4F6BDB">
              <a:alpha val="80000"/>
            </a:srgbClr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429000" y="1170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6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98848" y="1188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3–4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15361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自動分類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29000" y="2011680"/>
            <a:ext cx="2423160" cy="749808"/>
          </a:xfrm>
          <a:prstGeom prst="rect">
            <a:avLst/>
          </a:prstGeom>
          <a:solidFill>
            <a:srgbClr val="1A2456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3493008" y="204825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優化 Gemini Prompt 無需大幅改動架構，且能立刻讓報帳流程全自動化，提升體驗。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2907792"/>
            <a:ext cx="73152" cy="16459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621024" y="28895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 設計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29000" y="3182112"/>
            <a:ext cx="73152" cy="16459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3621024" y="31638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客戶規則庫建立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29000" y="3456432"/>
            <a:ext cx="73152" cy="16459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3621024" y="3438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結構化 JSON 輸出解析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29000" y="3730752"/>
            <a:ext cx="73152" cy="164592"/>
          </a:xfrm>
          <a:prstGeom prst="rect">
            <a:avLst/>
          </a:prstGeom>
          <a:solidFill>
            <a:srgbClr val="4F6BDB"/>
          </a:solidFill>
          <a:ln w="12700">
            <a:solidFill>
              <a:srgbClr val="4F6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3621024" y="37124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人工審核 fallback 機制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08776" y="1042416"/>
            <a:ext cx="2697480" cy="391363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6172200" y="1005840"/>
            <a:ext cx="2697480" cy="3913632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6172200" y="1005840"/>
            <a:ext cx="2697480" cy="9144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6309360" y="1170432"/>
            <a:ext cx="914400" cy="274320"/>
          </a:xfrm>
          <a:prstGeom prst="rect">
            <a:avLst/>
          </a:prstGeom>
          <a:solidFill>
            <a:srgbClr val="F1C40F">
              <a:alpha val="80000"/>
            </a:srgbClr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6309360" y="1170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79208" y="1188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5–8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15361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退回機制與推播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9360" y="2011680"/>
            <a:ext cx="2423160" cy="749808"/>
          </a:xfrm>
          <a:prstGeom prst="rect">
            <a:avLst/>
          </a:prstGeom>
          <a:solidFill>
            <a:srgbClr val="1A2456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6373368" y="204825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牽涉 Web 端按鈕、LINE API 串接與狀態機擴充，工程較大，放最後形成完美閉環。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2907792"/>
            <a:ext cx="73152" cy="16459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6501384" y="28895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後台退回按鈕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3182112"/>
            <a:ext cx="73152" cy="16459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6501384" y="31638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Flex Message 設計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09360" y="3456432"/>
            <a:ext cx="73152" cy="16459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6501384" y="3438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補件狀態機實作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309360" y="3730752"/>
            <a:ext cx="73152" cy="16459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6501384" y="37124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推播成本策略配置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1480" y="4773168"/>
            <a:ext cx="8321040" cy="237744"/>
          </a:xfrm>
          <a:prstGeom prst="rect">
            <a:avLst/>
          </a:prstGeom>
          <a:solidFill>
            <a:srgbClr val="1E2D6B"/>
          </a:solidFill>
          <a:ln w="12700">
            <a:solidFill>
              <a:srgbClr val="3A4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548640" y="4773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預估總工程量：6–8 週完成三階段實作  ·  各階段可獨立上線，逐步降低風險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5360</TotalTime>
  <Words>462</Words>
  <Application>Microsoft Office PowerPoint</Application>
  <PresentationFormat>如螢幕大小 (16:9)</PresentationFormat>
  <Paragraphs>126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AcctAssist 系統核心功能升級規劃</dc:title>
  <dc:subject>PptxGenJS Presentation</dc:subject>
  <dc:creator>AcctAssist Team</dc:creator>
  <cp:lastModifiedBy>YuanChen(TP-陳聖元)</cp:lastModifiedBy>
  <cp:revision>2</cp:revision>
  <dcterms:created xsi:type="dcterms:W3CDTF">2026-04-06T16:07:41Z</dcterms:created>
  <dcterms:modified xsi:type="dcterms:W3CDTF">2026-04-10T09:33:42Z</dcterms:modified>
</cp:coreProperties>
</file>